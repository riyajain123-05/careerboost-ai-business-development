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1828800" cy="18288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4B8A6"/>
                </a:solidFill>
              </a:rPr>
              <a:t>CAREERBOOST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685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FFFFFF"/>
                </a:solidFill>
              </a:rPr>
              <a:t>AI-Powered Placement</a:t>
            </a:r>
            <a:endParaRPr lang="en-US" sz="3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FFFFFF"/>
                </a:solidFill>
              </a:rPr>
              <a:t>Preparation Platform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77240" y="31272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</a:rPr>
              <a:t>From Awareness to Placement — A Full-Funnel Growth Strategy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43891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Learning Team 9  ·  FIIB, New Delhi  ·  BD, Selling &amp; Negotiation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Adarshjit Roy · Ankesh Kumar · Harsh Vardhan · Kartikey Gaur · Parth Yadav · Riya Jain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EXECUTIVE SUMMARY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179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CFBF1"/>
                </a:solidFill>
              </a:rPr>
              <a:t>"A resume builder gets you a document. A placement preparation partner gets you placed."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743200" cy="3090672"/>
          </a:xfrm>
          <a:prstGeom prst="rect">
            <a:avLst/>
          </a:prstGeom>
          <a:solidFill>
            <a:srgbClr val="16203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MBA students and fresh graduates lack recruiter-grade feedback on resumes and interviews — causing low ATS pass rates and poor interview confidence.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755648"/>
            <a:ext cx="2743200" cy="3090672"/>
          </a:xfrm>
          <a:prstGeom prst="rect">
            <a:avLst/>
          </a:prstGeom>
          <a:solidFill>
            <a:srgbClr val="16203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212848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CareerBoost AI delivers 24/7 AI-powered resume analysis and mock interviews that replicate real recruiter evaluation, producing data-driven improvement.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755648"/>
            <a:ext cx="2743200" cy="3090672"/>
          </a:xfrm>
          <a:prstGeom prst="rect">
            <a:avLst/>
          </a:prstGeom>
          <a:solidFill>
            <a:srgbClr val="16203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2212848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India's 3M+ annual MBA and graduate job-seekers are a high-intent, under-served market with clear willingness to pay for measurable career outcomes.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PROBLEM, SOLUTION &amp; KEY 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Pain Points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834640" cy="1024128"/>
          </a:xfrm>
          <a:prstGeom prst="rect">
            <a:avLst/>
          </a:prstGeom>
          <a:solidFill>
            <a:srgbClr val="FFF1F2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060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ATS Incompatibility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3533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Resumes filtered before any human reviews them.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2834640" cy="1024128"/>
          </a:xfrm>
          <a:prstGeom prst="rect">
            <a:avLst/>
          </a:prstGeom>
          <a:solidFill>
            <a:srgbClr val="FFF1F2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Ineffective Practice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Peer mocks lack scoring, structure, or real feedback.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2834640" cy="1024128"/>
          </a:xfrm>
          <a:prstGeom prst="rect">
            <a:avLst/>
          </a:prstGeom>
          <a:solidFill>
            <a:srgbClr val="FFF1F2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Confidence Gap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7307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Students freeze due to zero realistic exposure.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01568" y="566928"/>
            <a:ext cx="36576" cy="4251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566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Feature → Advantage → Benefit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969264"/>
            <a:ext cx="175564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9692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0" y="969264"/>
            <a:ext cx="175564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9692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Advantage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969264"/>
            <a:ext cx="175564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9692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Benefit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1353312"/>
            <a:ext cx="1755648" cy="1078992"/>
          </a:xfrm>
          <a:prstGeom prst="rect">
            <a:avLst/>
          </a:prstGeom>
          <a:solidFill>
            <a:srgbClr val="1B2A4A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135331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42646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b="1" dirty="0">
                <a:solidFill>
                  <a:srgbClr val="14B8A6"/>
                </a:solidFill>
              </a:rPr>
              <a:t>AI Resume Analyzer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394960" y="1353312"/>
            <a:ext cx="1755648" cy="1078992"/>
          </a:xfrm>
          <a:prstGeom prst="rect">
            <a:avLst/>
          </a:prstGeom>
          <a:solidFill>
            <a:srgbClr val="EFF6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2646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Evaluates against ATS criteria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178040" y="1353312"/>
            <a:ext cx="1755648" cy="1078992"/>
          </a:xfrm>
          <a:prstGeom prst="rect">
            <a:avLst/>
          </a:prstGeom>
          <a:solidFill>
            <a:srgbClr val="EFF6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42646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065F46"/>
                </a:solidFill>
              </a:rPr>
              <a:t>Higher chance of reaching a recruiter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611880" y="2542032"/>
            <a:ext cx="1755648" cy="1078992"/>
          </a:xfrm>
          <a:prstGeom prst="rect">
            <a:avLst/>
          </a:prstGeom>
          <a:solidFill>
            <a:srgbClr val="1B2A4A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254203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61518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b="1" dirty="0">
                <a:solidFill>
                  <a:srgbClr val="14B8A6"/>
                </a:solidFill>
              </a:rPr>
              <a:t>Mock Interview Simulator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94960" y="2542032"/>
            <a:ext cx="1755648" cy="1078992"/>
          </a:xfrm>
          <a:prstGeom prst="rect">
            <a:avLst/>
          </a:prstGeom>
          <a:solidFill>
            <a:srgbClr val="F0FD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61518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Realistic HR &amp; technical sessions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178040" y="2542032"/>
            <a:ext cx="1755648" cy="1078992"/>
          </a:xfrm>
          <a:prstGeom prst="rect">
            <a:avLst/>
          </a:prstGeom>
          <a:solidFill>
            <a:srgbClr val="F0FD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61518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065F46"/>
                </a:solidFill>
              </a:rPr>
              <a:t>Genuine confidence through familiarity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611880" y="3730752"/>
            <a:ext cx="1755648" cy="1078992"/>
          </a:xfrm>
          <a:prstGeom prst="rect">
            <a:avLst/>
          </a:prstGeom>
          <a:solidFill>
            <a:srgbClr val="1B2A4A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373075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380390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b="1" dirty="0">
                <a:solidFill>
                  <a:srgbClr val="14B8A6"/>
                </a:solidFill>
              </a:rPr>
              <a:t>Personalized Feedback Reports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394960" y="3730752"/>
            <a:ext cx="1755648" cy="1078992"/>
          </a:xfrm>
          <a:prstGeom prst="rect">
            <a:avLst/>
          </a:prstGeom>
          <a:solidFill>
            <a:srgbClr val="FFFBEB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380390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Scored insights on every session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7178040" y="3730752"/>
            <a:ext cx="1755648" cy="1078992"/>
          </a:xfrm>
          <a:prstGeom prst="rect">
            <a:avLst/>
          </a:prstGeom>
          <a:solidFill>
            <a:srgbClr val="FFFBEB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3803904"/>
            <a:ext cx="1572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065F46"/>
                </a:solidFill>
              </a:rPr>
              <a:t>Faster, targeted improvement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COMPETITIVE DIFFERENTIATION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94360"/>
          <a:ext cx="8412480" cy="4251960"/>
        </p:xfrm>
        <a:graphic>
          <a:graphicData uri="http://schemas.openxmlformats.org/drawingml/2006/table">
            <a:tbl>
              <a:tblPr/>
              <a:tblGrid>
                <a:gridCol w="1920240"/>
                <a:gridCol w="3154680"/>
                <a:gridCol w="3337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Traditional Prep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CareerBoost AI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Availability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Fixed hours; scheduled sessions.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</a:rPr>
                        <a:t>24/7 on-demand access.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Feedback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Subjective, inconsistent, no metrics.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</a:rPr>
                        <a:t>Structured, data-driven, recruiter-based.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Resume Screening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No ATS evaluation — visual templates only.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</a:rPr>
                        <a:t>ATS compatibility scoring clears filters.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Scalability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Limited by faculty and peer availability.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</a:rPr>
                        <a:t>Unlimited sessions, consistent evaluation.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Industry Focus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Generic prep, not role-specific.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</a:rPr>
                        <a:t>Role &amp; sector-specific question modules.</a:t>
                      </a:r>
                      <a:endParaRPr lang="en-US" sz="950" dirty="0"/>
                    </a:p>
                  </a:txBody>
                  <a:tcPr marL="88900" marR="88900" marT="50800" marB="5080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FULL-FUNNEL GROWTH STRATEGY — ALL 5 STAGES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603504"/>
            <a:ext cx="283464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0350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AWARENESS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377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 INTEREST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322576"/>
            <a:ext cx="192024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2257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 CONSIDERATION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3182112"/>
            <a:ext cx="1463040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821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04 CONVERSION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34440" y="4041648"/>
            <a:ext cx="1005840" cy="7315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0416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05 RETENTION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603504"/>
            <a:ext cx="5486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6400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Reach &amp; Educate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8778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Campus workshops, ATS demo booths, LinkedIn content, AI vs. Human Challenge events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11247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📊 Impressions · Booth interactions · Page visits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37560" y="1463040"/>
            <a:ext cx="5486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14996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Engage &amp; Demonstrate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17373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Live demo sessions, email nurture sequences, webinars, student ambassador community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19842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📊 Demo sign-ups · Email CTR · Community joins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37560" y="2322576"/>
            <a:ext cx="5486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23591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Evaluate &amp; 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25968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7-day free trial (no card), objection handling, social proof, guided onboarding flow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284378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📊 Trial sign-up rate · Feature depth · Intent score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37560" y="3182112"/>
            <a:ext cx="5486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29000" y="32186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Subscribe &amp; Purchase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34564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Tiered pricing (Basic ₹299 / Pro ₹699 / Group ₹1,499), urgency nudges, easy checkout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📊 Trial → Paid rate · Revenue per user · Churn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37560" y="4041648"/>
            <a:ext cx="5486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29000" y="40782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Upgrade &amp; Advocate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9000" y="4315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In-app milestones, referral rewards, alumni mentor network, NPS pulse surveys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29000" y="456285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📊 Renewal rate · NPS · Referral conversion · Upgrades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KPI DASHBOARD &amp; INNOVATIVE PROMOTION TACTICS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572768" cy="1691640"/>
          </a:xfrm>
          <a:prstGeom prst="rect">
            <a:avLst/>
          </a:prstGeom>
          <a:solidFill>
            <a:srgbClr val="162038"/>
          </a:solidFill>
          <a:ln w="1778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566928"/>
            <a:ext cx="1572768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669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AWARENESS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2,500+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</a:rPr>
              <a:t>Monthly Impressions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29968" y="566928"/>
            <a:ext cx="1572768" cy="1691640"/>
          </a:xfrm>
          <a:prstGeom prst="rect">
            <a:avLst/>
          </a:prstGeom>
          <a:solidFill>
            <a:srgbClr val="162038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566928"/>
            <a:ext cx="15727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5669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INTEREST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029968" y="8412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35%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29968" y="16459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</a:rPr>
              <a:t>Demo Conversion Rate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39896" y="566928"/>
            <a:ext cx="1572768" cy="1691640"/>
          </a:xfrm>
          <a:prstGeom prst="rect">
            <a:avLst/>
          </a:prstGeom>
          <a:solidFill>
            <a:srgbClr val="162038"/>
          </a:solidFill>
          <a:ln w="1778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9896" y="566928"/>
            <a:ext cx="1572768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5669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CONSIDERATION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739896" y="8412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22%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39896" y="16459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</a:rPr>
              <a:t>Trial Sign-Up Rate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49824" y="566928"/>
            <a:ext cx="1572768" cy="1691640"/>
          </a:xfrm>
          <a:prstGeom prst="rect">
            <a:avLst/>
          </a:prstGeom>
          <a:solidFill>
            <a:srgbClr val="162038"/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566928"/>
            <a:ext cx="1572768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5669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CONVERSION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449824" y="8412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</a:rPr>
              <a:t>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49824" y="16459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</a:rPr>
              <a:t>Trial → Paid Rate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9752" y="566928"/>
            <a:ext cx="1572768" cy="1691640"/>
          </a:xfrm>
          <a:prstGeom prst="rect">
            <a:avLst/>
          </a:prstGeom>
          <a:solidFill>
            <a:srgbClr val="162038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9752" y="566928"/>
            <a:ext cx="1572768" cy="2560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5669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RETENTION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159752" y="8412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72%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59752" y="16459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</a:rPr>
              <a:t>30-Day Renewal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2377440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50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</a:rPr>
              <a:t>INNOVATIVE PROMOTION TACTICS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788920"/>
            <a:ext cx="2011680" cy="2084832"/>
          </a:xfrm>
          <a:prstGeom prst="rect">
            <a:avLst/>
          </a:prstGeom>
          <a:solidFill>
            <a:srgbClr val="1620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788920"/>
            <a:ext cx="2011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7889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🤖 AI vs. Human Challenge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00200" y="2834640"/>
            <a:ext cx="6858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0200" y="2834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AWARENESS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411480" y="3145536"/>
            <a:ext cx="1828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20" dirty="0">
                <a:solidFill>
                  <a:srgbClr val="CBD5E1"/>
                </a:solidFill>
              </a:rPr>
              <a:t>Live campus competitions showcasing AI accuracy vs. HR professionals — generates viral campus buzz.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468880" y="2788920"/>
            <a:ext cx="2011680" cy="2084832"/>
          </a:xfrm>
          <a:prstGeom prst="rect">
            <a:avLst/>
          </a:prstGeom>
          <a:solidFill>
            <a:srgbClr val="1620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68880" y="2788920"/>
            <a:ext cx="2011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27889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📋 Resume Review Booths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49040" y="2834640"/>
            <a:ext cx="6858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834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INTEREST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2560320" y="3145536"/>
            <a:ext cx="1828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20" dirty="0">
                <a:solidFill>
                  <a:srgbClr val="CBD5E1"/>
                </a:solidFill>
              </a:rPr>
              <a:t>Pop-up booths giving instant ATS scores; students leave with printed improvement reports.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617720" y="2788920"/>
            <a:ext cx="2011680" cy="2084832"/>
          </a:xfrm>
          <a:prstGeom prst="rect">
            <a:avLst/>
          </a:prstGeom>
          <a:solidFill>
            <a:srgbClr val="1620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2788920"/>
            <a:ext cx="2011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27889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🤝 Placement Cell MoUs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97880" y="2834640"/>
            <a:ext cx="6858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834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CONVERSION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4709160" y="3145536"/>
            <a:ext cx="1828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20" dirty="0">
                <a:solidFill>
                  <a:srgbClr val="CBD5E1"/>
                </a:solidFill>
              </a:rPr>
              <a:t>Co-branded prep programs with placement offices; aggregate analytics build institutional trust.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766560" y="2788920"/>
            <a:ext cx="2011680" cy="2084832"/>
          </a:xfrm>
          <a:prstGeom prst="rect">
            <a:avLst/>
          </a:prstGeom>
          <a:solidFill>
            <a:srgbClr val="1620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2788920"/>
            <a:ext cx="2011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9712" y="27889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🎯 Alumni Mentor Network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46720" y="2834640"/>
            <a:ext cx="6858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2834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RETENTION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6858000" y="3145536"/>
            <a:ext cx="1828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20" dirty="0">
                <a:solidFill>
                  <a:srgbClr val="CBD5E1"/>
                </a:solidFill>
              </a:rPr>
              <a:t>Placed graduates become in-app mentors, recommending CareerBoost AI to juniors — referral loop.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4B8A6"/>
                </a:solidFill>
              </a:rPr>
              <a:t>CONCLUSION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The Strategic Shift: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Hope to Data-Driven Preparation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8001000" cy="868680"/>
          </a:xfrm>
          <a:prstGeom prst="rect">
            <a:avLst/>
          </a:prstGeom>
          <a:solidFill>
            <a:srgbClr val="1620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12848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67712"/>
            <a:ext cx="7680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i="1" dirty="0">
                <a:solidFill>
                  <a:srgbClr val="CCFBF1"/>
                </a:solidFill>
              </a:rPr>
              <a:t>"One helps you write. The other helps you win. CareerBoost AI replaces placement uncertainty with measurable, recruiter-verified improvement."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3M+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Annual Job-Seekers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Addressable Market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24/7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66160" y="3822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On-Demand AI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Availability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↑40%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3822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Projected Resume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Shortlisting Gain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77440" y="4434840"/>
            <a:ext cx="43891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44348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🚀  Start Your Free 7-Day Trial — No Credit Card Required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CareerBoost AI – AI-Powered Placement Preparation</dc:title>
  <dc:subject>PptxGenJS Presentation</dc:subject>
  <dc:creator>PptxGenJS</dc:creator>
  <cp:lastModifiedBy>PptxGenJS</cp:lastModifiedBy>
  <cp:revision>1</cp:revision>
  <dcterms:created xsi:type="dcterms:W3CDTF">2026-03-20T10:04:21Z</dcterms:created>
  <dcterms:modified xsi:type="dcterms:W3CDTF">2026-03-20T10:04:21Z</dcterms:modified>
</cp:coreProperties>
</file>